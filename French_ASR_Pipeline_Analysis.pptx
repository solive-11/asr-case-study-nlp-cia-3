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5B6B85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5B6B85"/>
                </a:solidFill>
                <a:latin typeface="Calibri" panose="020F0502020204030204"/>
              </a:rPr>
              <a:t>Word Error Rate by Sample (illustrative — replace with measured results)</a:t>
            </a:r>
            <a:endParaRPr sz="1300" b="0" i="0" u="none" strike="noStrike">
              <a:solidFill>
                <a:srgbClr val="5B6B85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Whisper (tiny)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Liaison</c:v>
                </c:pt>
                <c:pt idx="1">
                  <c:v>Homophone</c:v>
                </c:pt>
                <c:pt idx="2">
                  <c:v>Nasal vowel</c:v>
                </c:pt>
                <c:pt idx="3">
                  <c:v>Dialect</c:v>
                </c:pt>
                <c:pt idx="4">
                  <c:v>Diacritic</c:v>
                </c:pt>
                <c:pt idx="5">
                  <c:v>Code-switch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14</c:v>
                </c:pt>
                <c:pt idx="3">
                  <c:v>22</c:v>
                </c:pt>
                <c:pt idx="4">
                  <c:v>10</c:v>
                </c:pt>
                <c:pt idx="5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Google STT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1B2A4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Liaison</c:v>
                </c:pt>
                <c:pt idx="1">
                  <c:v>Homophone</c:v>
                </c:pt>
                <c:pt idx="2">
                  <c:v>Nasal vowel</c:v>
                </c:pt>
                <c:pt idx="3">
                  <c:v>Dialect</c:v>
                </c:pt>
                <c:pt idx="4">
                  <c:v>Diacritic</c:v>
                </c:pt>
                <c:pt idx="5">
                  <c:v>Code-switch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14</c:v>
                </c:pt>
                <c:pt idx="2">
                  <c:v>11</c:v>
                </c:pt>
                <c:pt idx="3">
                  <c:v>19</c:v>
                </c:pt>
                <c:pt idx="4">
                  <c:v>13</c:v>
                </c:pt>
                <c:pt idx="5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B6B8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4E9F1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WER (%)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B6B85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e7bc68f-7563-4ac0-9561-8b52aa04459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Title. Introduce team and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Agenda: Language Profile, Pipeline Analysis, Practical Evaluation,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Why French is interesting: 310M+ speakers, 5 dialect families, nasal vowels, extreme homophony.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Language profile: script, phonetics, morphology, dialects.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Walk through the 7-stage ASR pipeline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Stage 1: liaison blurs word boundaries; multi-dialect data + robust VAD.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Stage 2: nasal vowels, fast speech rate, no lexical stress; self-supervised features (wav2vec 2.0).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Stage 3: dialect table + code-switching; multi-dialect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— Stage 4: EXTREME HOMOPHONY is the #1 problem — /vɛʁ/ example; spoken vs written gap; subword tokenization + context-aware 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Stage 5: diacritic restoration, French punctuation rules; neural restoration + 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Evaluation setup: Whisper vs Google STT, 5-6 samples, WER + error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 — Fill this table in with your actual test transcriptions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Replace the placeholder chart data with your measured WER per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— Recommendations: homophone disambiguation (biggest impact), diacritic restoration, multi-dialect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 — Conclusion +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3840480" cy="3840480"/>
          </a:xfrm>
          <a:prstGeom prst="ellipse">
            <a:avLst/>
          </a:prstGeom>
          <a:solidFill>
            <a:srgbClr val="263A5E"/>
          </a:solidFill>
        </p:spPr>
      </p:sp>
      <p:pic>
        <p:nvPicPr>
          <p:cNvPr id="3" name="Image 0" descr="/home/claude/asr_ppt/icon_language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46920" y="178308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94360" y="2331720"/>
            <a:ext cx="84124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ASR Pipeline Analysis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for French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40080" y="4251960"/>
            <a:ext cx="548640" cy="45720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7" name="Text 4"/>
          <p:cNvSpPr/>
          <p:nvPr/>
        </p:nvSpPr>
        <p:spPr>
          <a:xfrm>
            <a:off x="640080" y="4434840"/>
            <a:ext cx="7589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2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liaison and nasal vowels to extreme homophony — evaluating how modern speech recognition handles one of Europe's most-spoken languages.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172200"/>
            <a:ext cx="8229600" cy="5746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 : Mahamat Hanga Derio, Justin Thomas</a:t>
            </a:r>
            <a:endParaRPr lang="en-US" sz="1200" dirty="0">
              <a:solidFill>
                <a:srgbClr val="9A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A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•  Course: Natural Language Processing </a:t>
            </a:r>
            <a:endParaRPr lang="en-US" sz="1200" dirty="0">
              <a:solidFill>
                <a:srgbClr val="9AA9C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AA9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•  Date: 13/7/2026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8096" y="26517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EF1F6"/>
          </a:solidFill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99616" y="2971800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/home/claude/asr_ppt/icon_langu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782" y="31569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3931920"/>
            <a:ext cx="2286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22376" y="23317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99816" y="3429000"/>
            <a:ext cx="411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57016" y="26517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EF1F6"/>
          </a:solidFill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8536" y="2971800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2" name="Image 1" descr="/home/claude/asr_ppt/ic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315696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3931920"/>
            <a:ext cx="2286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11296" y="23317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888736" y="3429000"/>
            <a:ext cx="411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45936" y="26517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EF1F6"/>
          </a:solidFill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77456" y="2971800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8" name="Image 2" descr="/home/claude/asr_ppt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622" y="315696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3931920"/>
            <a:ext cx="2286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0216" y="23317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77656" y="3429000"/>
            <a:ext cx="411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34856" y="26517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EEF1F6"/>
          </a:solidFill>
          <a:effectLst>
            <a:outerShdw blurRad="101600" dist="38100" dir="5400000" algn="bl" rotWithShape="0">
              <a:srgbClr val="1B2A4A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66376" y="2971800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24" name="Image 3" descr="/home/claude/asr_ppt/icon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542" y="3156966"/>
            <a:ext cx="452628" cy="4526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34856" y="3931920"/>
            <a:ext cx="228600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ations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89136" y="23317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French Is Interesting for ASR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1F6"/>
          </a:solidFill>
        </p:spPr>
      </p:sp>
      <p:sp>
        <p:nvSpPr>
          <p:cNvPr id="5" name="Shape 3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/home/claude/asr_ppt/icon_glob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24231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310M+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4114800"/>
            <a:ext cx="2240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Speakers across five continents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1F6"/>
          </a:solidFill>
        </p:spPr>
      </p:sp>
      <p:sp>
        <p:nvSpPr>
          <p:cNvPr id="10" name="Shape 7"/>
          <p:cNvSpPr/>
          <p:nvPr/>
        </p:nvSpPr>
        <p:spPr>
          <a:xfrm>
            <a:off x="4411980" y="2240280"/>
            <a:ext cx="731520" cy="73152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1" name="Image 1" descr="/home/claude/asr_ppt/icon_com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72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154680"/>
            <a:ext cx="24231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657600" y="4114800"/>
            <a:ext cx="2240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dialect families in daily use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1F6"/>
          </a:solidFill>
        </p:spPr>
      </p:sp>
      <p:sp>
        <p:nvSpPr>
          <p:cNvPr id="15" name="Shape 11"/>
          <p:cNvSpPr/>
          <p:nvPr/>
        </p:nvSpPr>
        <p:spPr>
          <a:xfrm>
            <a:off x="7338060" y="2240280"/>
            <a:ext cx="731520" cy="73152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6" name="Image 2" descr="/home/claude/asr_ppt/icon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652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154680"/>
            <a:ext cx="24231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583680" y="4114800"/>
            <a:ext cx="2240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Nasal vowels with no English equivalent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326880" y="19659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8C2F39"/>
          </a:solidFill>
        </p:spPr>
      </p:sp>
      <p:sp>
        <p:nvSpPr>
          <p:cNvPr id="20" name="Shape 15"/>
          <p:cNvSpPr/>
          <p:nvPr/>
        </p:nvSpPr>
        <p:spPr>
          <a:xfrm>
            <a:off x="10264140" y="2240280"/>
            <a:ext cx="731520" cy="731520"/>
          </a:xfrm>
          <a:prstGeom prst="ellipse">
            <a:avLst/>
          </a:prstGeom>
          <a:solidFill>
            <a:srgbClr val="6E2028"/>
          </a:solidFill>
        </p:spPr>
      </p:sp>
      <p:pic>
        <p:nvPicPr>
          <p:cNvPr id="21" name="Image 3" descr="/home/claude/asr_ppt/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8732" y="2404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18320" y="3154680"/>
            <a:ext cx="242316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sound,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words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9509760" y="4114800"/>
            <a:ext cx="2240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1DC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Extreme homophony — the defining challenge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French Language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/home/claude/asr_ppt/icon_langu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199" y="20477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7452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2212848"/>
            <a:ext cx="4846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Latin alphabet plus diacritics: é, è, ê, ç, and more — each changes pronunciation and meaning.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9" name="Image 1" descr="/home/claude/asr_ppt/icon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9" y="34651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29184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Phonetics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3630168"/>
            <a:ext cx="4846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13–16 vowels, 4 nasal vowels, and a uvular /ʁ/ — sounds with no direct English equivalent.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3" name="Image 2" descr="/home/claude/asr_ppt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9" y="488243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709160"/>
            <a:ext cx="4846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5047488"/>
            <a:ext cx="48463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Rich verb conjugation with many silent inflections that never surface in speech.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46520" y="1463040"/>
            <a:ext cx="5166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Dialects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6446520" y="1920240"/>
          <a:ext cx="5166360" cy="3566160"/>
        </p:xfrm>
        <a:graphic>
          <a:graphicData uri="http://schemas.openxmlformats.org/drawingml/2006/table">
            <a:tbl>
              <a:tblPr/>
              <a:tblGrid>
                <a:gridCol w="2583180"/>
                <a:gridCol w="2583180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Dialect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Region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Metropolitan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France (reference standard)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Québécois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Canada — distinct vowels &amp; slang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African French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West &amp; Central Africa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Belgian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Belgium — septante/nonante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Swiss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Switzerland — regional lexicon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ASR Pipeline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C9A227"/>
          </a:solidFill>
        </p:spPr>
      </p:sp>
      <p:sp>
        <p:nvSpPr>
          <p:cNvPr id="5" name="Text 3"/>
          <p:cNvSpPr/>
          <p:nvPr/>
        </p:nvSpPr>
        <p:spPr>
          <a:xfrm>
            <a:off x="365760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783080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39112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</p:spPr>
      </p:sp>
      <p:sp>
        <p:nvSpPr>
          <p:cNvPr id="8" name="Text 6"/>
          <p:cNvSpPr/>
          <p:nvPr/>
        </p:nvSpPr>
        <p:spPr>
          <a:xfrm>
            <a:off x="2039112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56432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12464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</p:spPr>
      </p:sp>
      <p:sp>
        <p:nvSpPr>
          <p:cNvPr id="11" name="Text 9"/>
          <p:cNvSpPr/>
          <p:nvPr/>
        </p:nvSpPr>
        <p:spPr>
          <a:xfrm>
            <a:off x="3712464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129784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85816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</p:spPr>
      </p:sp>
      <p:sp>
        <p:nvSpPr>
          <p:cNvPr id="14" name="Text 12"/>
          <p:cNvSpPr/>
          <p:nvPr/>
        </p:nvSpPr>
        <p:spPr>
          <a:xfrm>
            <a:off x="5385816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Acoustic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03136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</p:spPr>
      </p:sp>
      <p:sp>
        <p:nvSpPr>
          <p:cNvPr id="17" name="Text 15"/>
          <p:cNvSpPr/>
          <p:nvPr/>
        </p:nvSpPr>
        <p:spPr>
          <a:xfrm>
            <a:off x="7059168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76488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32520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</p:spPr>
      </p:sp>
      <p:sp>
        <p:nvSpPr>
          <p:cNvPr id="20" name="Text 18"/>
          <p:cNvSpPr/>
          <p:nvPr/>
        </p:nvSpPr>
        <p:spPr>
          <a:xfrm>
            <a:off x="8732520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149840" y="3063240"/>
            <a:ext cx="256032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05872" y="306324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C9A227"/>
          </a:solidFill>
        </p:spPr>
      </p:sp>
      <p:sp>
        <p:nvSpPr>
          <p:cNvPr id="23" name="Text 21"/>
          <p:cNvSpPr/>
          <p:nvPr/>
        </p:nvSpPr>
        <p:spPr>
          <a:xfrm>
            <a:off x="10405872" y="3063240"/>
            <a:ext cx="1417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stage introduces a distinct point of failure for French — mapped in the sections that follow.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1 · ACQUISITION &amp; PRE-PROCESSING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Speech Acquisition &amp; Pre-processing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777240" cy="77724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/home/claude/asr_ppt/icon_mi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3359" y="58635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8C2F39"/>
          </a:solidFill>
        </p:spPr>
      </p:sp>
      <p:sp>
        <p:nvSpPr>
          <p:cNvPr id="7" name="Text 4"/>
          <p:cNvSpPr/>
          <p:nvPr/>
        </p:nvSpPr>
        <p:spPr>
          <a:xfrm>
            <a:off x="822960" y="213055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C9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Liaison blurs word boundaries — the model must decide where one word ends and the next begins, before it even knows what was said.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EEF1F6"/>
          </a:solidFill>
        </p:spPr>
      </p:sp>
      <p:sp>
        <p:nvSpPr>
          <p:cNvPr id="10" name="Text 7"/>
          <p:cNvSpPr/>
          <p:nvPr/>
        </p:nvSpPr>
        <p:spPr>
          <a:xfrm>
            <a:off x="822960" y="382219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"les amis" → /le.za.mi/ — is that "le", "za", "mi"? Word-boundary ambiguity starts at the acoustic level.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3800" y="1965960"/>
            <a:ext cx="4069080" cy="3108960"/>
          </a:xfrm>
          <a:prstGeom prst="roundRect">
            <a:avLst>
              <a:gd name="adj" fmla="val 2647"/>
            </a:avLst>
          </a:prstGeom>
          <a:solidFill>
            <a:srgbClr val="1B2A4A"/>
          </a:solidFill>
        </p:spPr>
      </p:sp>
      <p:sp>
        <p:nvSpPr>
          <p:cNvPr id="13" name="Shape 10"/>
          <p:cNvSpPr/>
          <p:nvPr/>
        </p:nvSpPr>
        <p:spPr>
          <a:xfrm>
            <a:off x="9212580" y="2240280"/>
            <a:ext cx="731520" cy="73152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4" name="Image 1" descr="/home/claude/asr_ppt/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18120" y="315468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863840" y="3474720"/>
            <a:ext cx="3429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Multi-dialect training data and robust voice-activity detection (VAD) tuned to French speech rate and recording conditions.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2 · FEATURE EXTRACTION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Extraction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777240" cy="77724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/home/claude/asr_ppt/icon_wa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3359" y="58635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8C2F39"/>
          </a:solidFill>
        </p:spPr>
      </p:sp>
      <p:sp>
        <p:nvSpPr>
          <p:cNvPr id="7" name="Text 4"/>
          <p:cNvSpPr/>
          <p:nvPr/>
        </p:nvSpPr>
        <p:spPr>
          <a:xfrm>
            <a:off x="822960" y="213055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C9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nasal vowels plus fine vowel-quality contrasts must be captured — and French is spoken at roughly 7.2 syllables per second, among the fastest rates of any language.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EEF1F6"/>
          </a:solidFill>
        </p:spPr>
      </p:sp>
      <p:sp>
        <p:nvSpPr>
          <p:cNvPr id="10" name="Text 7"/>
          <p:cNvSpPr/>
          <p:nvPr/>
        </p:nvSpPr>
        <p:spPr>
          <a:xfrm>
            <a:off x="822960" y="382219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lexical stress means prosody gives the model no extra clue to word identity — unlike English, where stress helps disambiguate.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3800" y="1965960"/>
            <a:ext cx="4069080" cy="3108960"/>
          </a:xfrm>
          <a:prstGeom prst="roundRect">
            <a:avLst>
              <a:gd name="adj" fmla="val 2647"/>
            </a:avLst>
          </a:prstGeom>
          <a:solidFill>
            <a:srgbClr val="1B2A4A"/>
          </a:solidFill>
        </p:spPr>
      </p:sp>
      <p:sp>
        <p:nvSpPr>
          <p:cNvPr id="13" name="Shape 10"/>
          <p:cNvSpPr/>
          <p:nvPr/>
        </p:nvSpPr>
        <p:spPr>
          <a:xfrm>
            <a:off x="9212580" y="2240280"/>
            <a:ext cx="731520" cy="73152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4" name="Image 1" descr="/home/claude/asr_ppt/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18120" y="315468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863840" y="3474720"/>
            <a:ext cx="3429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Self-supervised feature learning (e.g. wav2vec 2.0) to capture fine acoustic detail without hand-tuned filters.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3 · ACOUSTIC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Acoustic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777240" cy="77724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/home/claude/asr_ppt/icon_br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3359" y="58635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7452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8C2F39"/>
          </a:solidFill>
        </p:spPr>
      </p:sp>
      <p:sp>
        <p:nvSpPr>
          <p:cNvPr id="7" name="Text 4"/>
          <p:cNvSpPr/>
          <p:nvPr/>
        </p:nvSpPr>
        <p:spPr>
          <a:xfrm>
            <a:off x="822960" y="1874520"/>
            <a:ext cx="10561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1C9CE"/>
                </a:solidFill>
              </a:rPr>
              <a:t>KEY CHALLENGE   </a:t>
            </a:r>
            <a:r>
              <a:rPr lang="en-US" sz="1350" dirty="0">
                <a:solidFill>
                  <a:srgbClr val="FFFFFF"/>
                </a:solidFill>
              </a:rPr>
              <a:t>Liaison-pronunciation variants and dialect variation change the acoustic signal for the same underlying word — and code-switching (French–English, French–Arabic) shifts it further.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3063240"/>
          <a:ext cx="11109960" cy="274320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Metropolitan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Québécois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African French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Vowels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oral/nasal set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Diphthongized, retained /ʌ/-like sounds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Influenced by substrate languages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Rhythm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Syllable-timed, moderate pace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Faster, more elision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Slower, more distinct syllables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/ʁ/ realization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Uvular fricative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more retracted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Frequently alveolar/rolled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Lexicon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Reference vocabulary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Anglicisms, archaic terms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Loanwords from local languages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Technique: multi-dialect fine-tuning and end-to-end acoustic models trained across all three varieties.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4 · LANGUAGE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#1 Problem: Extreme Homophony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3063240"/>
          </a:xfrm>
          <a:prstGeom prst="roundRect">
            <a:avLst>
              <a:gd name="adj" fmla="val 2985"/>
            </a:avLst>
          </a:prstGeom>
          <a:solidFill>
            <a:srgbClr val="8C2F39"/>
          </a:solidFill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/vɛʁ/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5943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1C9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5 different words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vers (toward)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538728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vert (green)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831336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verre (glass)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123944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ver (worm)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416552"/>
            <a:ext cx="5943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vair (fur)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498080" y="1691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263A5E"/>
          </a:solidFill>
        </p:spPr>
      </p:sp>
      <p:sp>
        <p:nvSpPr>
          <p:cNvPr id="13" name="Text 11"/>
          <p:cNvSpPr/>
          <p:nvPr/>
        </p:nvSpPr>
        <p:spPr>
          <a:xfrm>
            <a:off x="7772400" y="18745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SPOKEN vs. WRITTEN GAP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2194560"/>
            <a:ext cx="35661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"J'sais pas"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"Je ne sais pas"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329184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263A5E"/>
          </a:solidFill>
        </p:spPr>
      </p:sp>
      <p:sp>
        <p:nvSpPr>
          <p:cNvPr id="16" name="Text 14"/>
          <p:cNvSpPr/>
          <p:nvPr/>
        </p:nvSpPr>
        <p:spPr>
          <a:xfrm>
            <a:off x="7772400" y="347472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0" y="3767328"/>
            <a:ext cx="3566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Subword tokenization, spoken-language LMs, and context-aware disambiguation to resolve homophones from surrounding words.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5 · DECODING &amp; POST-PROCESSING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Decoding &amp; Post-processing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98480" y="411480"/>
            <a:ext cx="777240" cy="77724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5" name="Image 0" descr="/home/claude/asr_ppt/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3359" y="586359"/>
            <a:ext cx="427482" cy="4274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96596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8C2F39"/>
          </a:solidFill>
        </p:spPr>
      </p:sp>
      <p:sp>
        <p:nvSpPr>
          <p:cNvPr id="7" name="Text 4"/>
          <p:cNvSpPr/>
          <p:nvPr/>
        </p:nvSpPr>
        <p:spPr>
          <a:xfrm>
            <a:off x="822960" y="213055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1C9C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Diacritic restoration decides meaning after the words are already chosen — "ou" (or) vs. "où" (where) look identical without it.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65760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EEF1F6"/>
          </a:solidFill>
        </p:spPr>
      </p:sp>
      <p:sp>
        <p:nvSpPr>
          <p:cNvPr id="10" name="Text 7"/>
          <p:cNvSpPr/>
          <p:nvPr/>
        </p:nvSpPr>
        <p:spPr>
          <a:xfrm>
            <a:off x="822960" y="3822192"/>
            <a:ext cx="6217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5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114800"/>
            <a:ext cx="62179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punctuation spacing rules: « guillemets » and a space before : ; ! ? — easy to miss in raw ASR output.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543800" y="1965960"/>
            <a:ext cx="4069080" cy="3108960"/>
          </a:xfrm>
          <a:prstGeom prst="roundRect">
            <a:avLst>
              <a:gd name="adj" fmla="val 2647"/>
            </a:avLst>
          </a:prstGeom>
          <a:solidFill>
            <a:srgbClr val="1B2A4A"/>
          </a:solidFill>
        </p:spPr>
      </p:sp>
      <p:sp>
        <p:nvSpPr>
          <p:cNvPr id="13" name="Shape 10"/>
          <p:cNvSpPr/>
          <p:nvPr/>
        </p:nvSpPr>
        <p:spPr>
          <a:xfrm>
            <a:off x="9212580" y="2240280"/>
            <a:ext cx="731520" cy="73152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14" name="Image 1" descr="/home/claude/asr_ppt/icon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0" y="2423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18120" y="3154680"/>
            <a:ext cx="3520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863840" y="3474720"/>
            <a:ext cx="34290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diacritic restoration paired with French-tuned named-entity recognition (NER) for proper nouns.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—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EEF1F6"/>
          </a:solidFill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/home/claude/asr_ppt/icon_fla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4403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5000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Compared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868680" y="3017520"/>
          <a:ext cx="475488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Type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Whisper (tiny)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Local, open-source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Speech-to-Text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Cloud / web API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68680" y="4389120"/>
            <a:ext cx="47548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5–6 audio samples, each targeting a specific French ASR challenge from the pipeline analysis (liaison, homophones, nasal vowels, dialect, diacritics).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1B2A4A"/>
          </a:solidFill>
        </p:spPr>
      </p:sp>
      <p:sp>
        <p:nvSpPr>
          <p:cNvPr id="11" name="Shape 7"/>
          <p:cNvSpPr/>
          <p:nvPr/>
        </p:nvSpPr>
        <p:spPr>
          <a:xfrm>
            <a:off x="6583680" y="2286000"/>
            <a:ext cx="685800" cy="685800"/>
          </a:xfrm>
          <a:prstGeom prst="ellipse">
            <a:avLst/>
          </a:prstGeom>
          <a:solidFill>
            <a:srgbClr val="C9A227"/>
          </a:solidFill>
        </p:spPr>
      </p:sp>
      <p:pic>
        <p:nvPicPr>
          <p:cNvPr id="8" name="Image 1" descr="/home/claude/asr_ppt/ic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30" y="245745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2360" y="2350008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629400" y="315468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Word Error Rate (WER)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0" y="3502152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audio sample, per system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629400" y="4160520"/>
            <a:ext cx="4663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Error type classification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858000" y="4507992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homophone, liaison, diacritic, dialect, other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Results — Error Analysis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457200" y="1874520"/>
          <a:ext cx="11292840" cy="4114803"/>
        </p:xfrm>
        <a:graphic>
          <a:graphicData uri="http://schemas.openxmlformats.org/drawingml/2006/table">
            <a:tbl>
              <a:tblPr/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Sample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Challenge Tested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Whisper Output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Google STT Output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Type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Liaison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Homophone (/vɛʁ/)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Nasal vowels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Dialect (Québécois)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Diacritic restoration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Code-switching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TBD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92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 in with actual transcriptions and error types after running both systems on your recorded samples.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WER Comparison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11064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EEF1F6"/>
          </a:solidFill>
        </p:spPr>
      </p:sp>
      <p:sp>
        <p:nvSpPr>
          <p:cNvPr id="5" name="Shape 3"/>
          <p:cNvSpPr/>
          <p:nvPr/>
        </p:nvSpPr>
        <p:spPr>
          <a:xfrm>
            <a:off x="777240" y="2048256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6" name="Image 0" descr="/home/claude/asr_ppt/icon_langu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233422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65960"/>
            <a:ext cx="548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2468880" y="2002536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Homophone disambiguation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468880" y="2386584"/>
            <a:ext cx="8869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Biggest single impact — context-aware language modeling to resolve French's extreme homophony.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27832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EEF1F6"/>
          </a:solidFill>
        </p:spPr>
      </p:sp>
      <p:sp>
        <p:nvSpPr>
          <p:cNvPr id="11" name="Shape 8"/>
          <p:cNvSpPr/>
          <p:nvPr/>
        </p:nvSpPr>
        <p:spPr>
          <a:xfrm>
            <a:off x="777240" y="3401568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2" name="Image 1" descr="/home/claude/asr_ppt/ic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06" y="3586734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83080" y="3319272"/>
            <a:ext cx="548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468880" y="3355848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Diacritic restoration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468880" y="3739896"/>
            <a:ext cx="8869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restoration of accents and diacritics as a dedicated post-processing stage.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581144"/>
            <a:ext cx="11109960" cy="1170432"/>
          </a:xfrm>
          <a:prstGeom prst="roundRect">
            <a:avLst>
              <a:gd name="adj" fmla="val 7031"/>
            </a:avLst>
          </a:prstGeom>
          <a:solidFill>
            <a:srgbClr val="EEF1F6"/>
          </a:solidFill>
        </p:spPr>
      </p:sp>
      <p:sp>
        <p:nvSpPr>
          <p:cNvPr id="17" name="Shape 13"/>
          <p:cNvSpPr/>
          <p:nvPr/>
        </p:nvSpPr>
        <p:spPr>
          <a:xfrm>
            <a:off x="777240" y="4754880"/>
            <a:ext cx="822960" cy="822960"/>
          </a:xfrm>
          <a:prstGeom prst="ellipse">
            <a:avLst/>
          </a:prstGeom>
          <a:solidFill>
            <a:srgbClr val="1B2A4A"/>
          </a:solidFill>
        </p:spPr>
      </p:sp>
      <p:pic>
        <p:nvPicPr>
          <p:cNvPr id="18" name="Image 2" descr="/home/claude/asr_ppt/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494004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672584"/>
            <a:ext cx="5486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2468880" y="4709160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Multi-dialect training data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2468880" y="5093208"/>
            <a:ext cx="8869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Broaden acoustic and language model training across Metropolitan, Québécois, and African French.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025896"/>
            <a:ext cx="11109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directions: personalized ASR adapted to individual speakers, and dedicated code-switching models for French–English / French–Arabic contexts.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9601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French Is Uniquely Challenging —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and Uniquely Solvable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724912"/>
            <a:ext cx="128016" cy="128016"/>
          </a:xfrm>
          <a:prstGeom prst="ellipse">
            <a:avLst/>
          </a:prstGeom>
          <a:solidFill>
            <a:srgbClr val="C9A227"/>
          </a:solidFill>
        </p:spPr>
      </p:sp>
      <p:sp>
        <p:nvSpPr>
          <p:cNvPr id="5" name="Text 3"/>
          <p:cNvSpPr/>
          <p:nvPr/>
        </p:nvSpPr>
        <p:spPr>
          <a:xfrm>
            <a:off x="960120" y="2542032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Homophony, liaison, and diacritics compound at different pipeline stages — not just 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128016" cy="128016"/>
          </a:xfrm>
          <a:prstGeom prst="ellipse">
            <a:avLst/>
          </a:prstGeom>
          <a:solidFill>
            <a:srgbClr val="C9A227"/>
          </a:solidFill>
        </p:spPr>
      </p:sp>
      <p:sp>
        <p:nvSpPr>
          <p:cNvPr id="7" name="Text 5"/>
          <p:cNvSpPr/>
          <p:nvPr/>
        </p:nvSpPr>
        <p:spPr>
          <a:xfrm>
            <a:off x="960120" y="320040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end-to-end and self-supervised models close much of the gap, but don't solve it outright.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041648"/>
            <a:ext cx="128016" cy="128016"/>
          </a:xfrm>
          <a:prstGeom prst="ellipse">
            <a:avLst/>
          </a:prstGeom>
          <a:solidFill>
            <a:srgbClr val="C9A227"/>
          </a:solidFill>
        </p:spPr>
      </p:sp>
      <p:sp>
        <p:nvSpPr>
          <p:cNvPr id="9" name="Text 7"/>
          <p:cNvSpPr/>
          <p:nvPr/>
        </p:nvSpPr>
        <p:spPr>
          <a:xfrm>
            <a:off x="960120" y="3858768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7EC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fixes — disambiguation, diacritic restoration, dialect coverage — offer the clearest path forward.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548640" cy="41148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11" name="Text 9"/>
          <p:cNvSpPr/>
          <p:nvPr/>
        </p:nvSpPr>
        <p:spPr>
          <a:xfrm>
            <a:off x="594360" y="52578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— Questions?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966960" y="2743200"/>
            <a:ext cx="1463040" cy="1463040"/>
          </a:xfrm>
          <a:prstGeom prst="ellipse">
            <a:avLst/>
          </a:prstGeom>
          <a:solidFill>
            <a:srgbClr val="263A5E"/>
          </a:solidFill>
        </p:spPr>
      </p:sp>
      <p:pic>
        <p:nvPicPr>
          <p:cNvPr id="13" name="Image 0" descr="/home/claude/asr_ppt/icon_ques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4" y="3072384"/>
            <a:ext cx="804672" cy="8046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0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French ASR Pipeline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B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5957</Words>
  <Application>WPS Presentation</Application>
  <PresentationFormat>On-screen Show (16:9)</PresentationFormat>
  <Paragraphs>471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Admin</cp:lastModifiedBy>
  <cp:revision>2</cp:revision>
  <dcterms:created xsi:type="dcterms:W3CDTF">2026-07-13T06:32:00Z</dcterms:created>
  <dcterms:modified xsi:type="dcterms:W3CDTF">2026-07-13T06:46:01Z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318C2A2F4D5A40588D67498E74060B78_12</vt:lpwstr>
  </property>
  <property fmtid="{D5CDD505-2E9C-101B-9397-08002B2CF9AE}" pid="3" name="KSOProductBuildVer">
    <vt:lpwstr>1033-12.1.0.26880</vt:lpwstr>
  </property>
</Properties>
</file>